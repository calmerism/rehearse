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65760"/>
          </a:xfrm>
          <a:prstGeom prst="rect">
            <a:avLst/>
          </a:prstGeom>
          <a:noFill/>
        </p:spPr>
        <p:txBody>
          <a:bodyPr wrap="none">
            <a:spAutoFit/>
          </a:bodyPr>
          <a:lstStyle/>
          <a:p>
            <a:r>
              <a:rPr sz="1200" b="1">
                <a:solidFill>
                  <a:srgbClr val="D05236"/>
                </a:solidFill>
                <a:latin typeface="Arial"/>
              </a:rPr>
              <a:t>CHITKARA UNIVERSITY | INBIOT | AZURE AI-103 FINAL PROJECT</a:t>
            </a:r>
          </a:p>
        </p:txBody>
      </p:sp>
      <p:sp>
        <p:nvSpPr>
          <p:cNvPr id="4" name="TextBox 3"/>
          <p:cNvSpPr txBox="1"/>
          <p:nvPr/>
        </p:nvSpPr>
        <p:spPr>
          <a:xfrm>
            <a:off x="1097280" y="2011680"/>
            <a:ext cx="9966960" cy="1097280"/>
          </a:xfrm>
          <a:prstGeom prst="rect">
            <a:avLst/>
          </a:prstGeom>
          <a:noFill/>
        </p:spPr>
        <p:txBody>
          <a:bodyPr wrap="none">
            <a:spAutoFit/>
          </a:bodyPr>
          <a:lstStyle/>
          <a:p>
            <a:r>
              <a:rPr sz="5600" b="1">
                <a:solidFill>
                  <a:srgbClr val="FFFFFF"/>
                </a:solidFill>
                <a:latin typeface="Arial"/>
              </a:rPr>
              <a:t>Rehearse</a:t>
            </a:r>
          </a:p>
        </p:txBody>
      </p:sp>
      <p:sp>
        <p:nvSpPr>
          <p:cNvPr id="5" name="TextBox 4"/>
          <p:cNvSpPr txBox="1"/>
          <p:nvPr/>
        </p:nvSpPr>
        <p:spPr>
          <a:xfrm>
            <a:off x="1097280" y="3017520"/>
            <a:ext cx="9966960" cy="731520"/>
          </a:xfrm>
          <a:prstGeom prst="rect">
            <a:avLst/>
          </a:prstGeom>
          <a:noFill/>
        </p:spPr>
        <p:txBody>
          <a:bodyPr wrap="none">
            <a:spAutoFit/>
          </a:bodyPr>
          <a:lstStyle/>
          <a:p>
            <a:r>
              <a:rPr sz="2000">
                <a:solidFill>
                  <a:srgbClr val="CBD5E1"/>
                </a:solidFill>
                <a:latin typeface="Arial"/>
              </a:rPr>
              <a:t>Autonomous, Real-Time AI Interview Coach
"Practice the interview, not just the questions."</a:t>
            </a:r>
          </a:p>
        </p:txBody>
      </p:sp>
      <p:sp>
        <p:nvSpPr>
          <p:cNvPr id="6" name="Rounded Rectangle 5"/>
          <p:cNvSpPr/>
          <p:nvPr/>
        </p:nvSpPr>
        <p:spPr>
          <a:xfrm>
            <a:off x="1097280" y="4754880"/>
            <a:ext cx="22860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900" b="1">
                <a:solidFill>
                  <a:srgbClr val="D05236"/>
                </a:solidFill>
                <a:latin typeface="Arial"/>
              </a:rPr>
              <a:t>LIVE WEB APPLICATION</a:t>
            </a:r>
          </a:p>
          <a:p>
            <a:pPr>
              <a:spcBef>
                <a:spcPts val="400"/>
              </a:spcBef>
            </a:pPr>
            <a:r>
              <a:rPr sz="1300" b="1">
                <a:solidFill>
                  <a:srgbClr val="FFFFFF"/>
                </a:solidFill>
                <a:latin typeface="Arial"/>
              </a:rPr>
              <a:t>getrehearse.vercel.app</a:t>
            </a:r>
          </a:p>
        </p:txBody>
      </p:sp>
      <p:sp>
        <p:nvSpPr>
          <p:cNvPr id="7" name="Rounded Rectangle 6"/>
          <p:cNvSpPr/>
          <p:nvPr/>
        </p:nvSpPr>
        <p:spPr>
          <a:xfrm>
            <a:off x="3657600" y="4754880"/>
            <a:ext cx="22860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900" b="1">
                <a:solidFill>
                  <a:srgbClr val="D05236"/>
                </a:solidFill>
                <a:latin typeface="Arial"/>
              </a:rPr>
              <a:t>EVALUATION DATES</a:t>
            </a:r>
          </a:p>
          <a:p>
            <a:pPr>
              <a:spcBef>
                <a:spcPts val="400"/>
              </a:spcBef>
            </a:pPr>
            <a:r>
              <a:rPr sz="1300" b="1">
                <a:solidFill>
                  <a:srgbClr val="FFFFFF"/>
                </a:solidFill>
                <a:latin typeface="Arial"/>
              </a:rPr>
              <a:t>24 – 25 September 2026</a:t>
            </a:r>
          </a:p>
        </p:txBody>
      </p:sp>
      <p:sp>
        <p:nvSpPr>
          <p:cNvPr id="8" name="Rounded Rectangle 7"/>
          <p:cNvSpPr/>
          <p:nvPr/>
        </p:nvSpPr>
        <p:spPr>
          <a:xfrm>
            <a:off x="6217920" y="4754880"/>
            <a:ext cx="22860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900" b="1">
                <a:solidFill>
                  <a:srgbClr val="D05236"/>
                </a:solidFill>
                <a:latin typeface="Arial"/>
              </a:rPr>
              <a:t>AI-103 CAPABILITIES</a:t>
            </a:r>
          </a:p>
          <a:p>
            <a:pPr>
              <a:spcBef>
                <a:spcPts val="400"/>
              </a:spcBef>
            </a:pPr>
            <a:r>
              <a:rPr sz="1300" b="1">
                <a:solidFill>
                  <a:srgbClr val="FFFFFF"/>
                </a:solidFill>
                <a:latin typeface="Arial"/>
              </a:rPr>
              <a:t>Speech, Foundry, Agent, Docs</a:t>
            </a:r>
          </a:p>
        </p:txBody>
      </p:sp>
      <p:sp>
        <p:nvSpPr>
          <p:cNvPr id="9" name="Rounded Rectangle 8"/>
          <p:cNvSpPr/>
          <p:nvPr/>
        </p:nvSpPr>
        <p:spPr>
          <a:xfrm>
            <a:off x="8778240" y="4754880"/>
            <a:ext cx="22860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900" b="1">
                <a:solidFill>
                  <a:srgbClr val="D05236"/>
                </a:solidFill>
                <a:latin typeface="Arial"/>
              </a:rPr>
              <a:t>AUTOMATED TESTS</a:t>
            </a:r>
          </a:p>
          <a:p>
            <a:pPr>
              <a:spcBef>
                <a:spcPts val="400"/>
              </a:spcBef>
            </a:pPr>
            <a:r>
              <a:rPr sz="1300" b="1">
                <a:solidFill>
                  <a:srgbClr val="FFFFFF"/>
                </a:solidFill>
                <a:latin typeface="Arial"/>
              </a:rPr>
              <a:t>25 Passed (100% Type-Safe)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30-SECOND PROBLEM STATEMENT</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The Placement Interview Preparation Gap</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Why conventional interview preparation leaves engineering candidates unprepared for live interviews.</a:t>
            </a:r>
          </a:p>
        </p:txBody>
      </p:sp>
      <p:sp>
        <p:nvSpPr>
          <p:cNvPr id="6" name="Rounded Rectangle 5"/>
          <p:cNvSpPr/>
          <p:nvPr/>
        </p:nvSpPr>
        <p:spPr>
          <a:xfrm>
            <a:off x="7315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r>
              <a:rPr sz="1600" b="1">
                <a:solidFill>
                  <a:srgbClr val="D05236"/>
                </a:solidFill>
                <a:latin typeface="Arial"/>
              </a:rPr>
              <a:t>1. Passive Rote Memorization</a:t>
            </a:r>
          </a:p>
          <a:p>
            <a:pPr>
              <a:lnSpc>
                <a:spcPct val="125000"/>
              </a:lnSpc>
              <a:spcBef>
                <a:spcPts val="1400"/>
              </a:spcBef>
            </a:pPr>
            <a:r>
              <a:rPr sz="1250">
                <a:solidFill>
                  <a:srgbClr val="64748B"/>
                </a:solidFill>
                <a:latin typeface="Arial"/>
              </a:rPr>
              <a:t>Students solve isolated LeetCode algorithms and memorize text definitions from flashcards.
While this builds syntax memory, it completely neglects the verbal articulation and technical defense skills required in live engineering conversations.</a:t>
            </a:r>
          </a:p>
        </p:txBody>
      </p:sp>
      <p:sp>
        <p:nvSpPr>
          <p:cNvPr id="7" name="Rounded Rectangle 6"/>
          <p:cNvSpPr/>
          <p:nvPr/>
        </p:nvSpPr>
        <p:spPr>
          <a:xfrm>
            <a:off x="43891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r>
              <a:rPr sz="1600" b="1">
                <a:solidFill>
                  <a:srgbClr val="0284C7"/>
                </a:solidFill>
                <a:latin typeface="Arial"/>
              </a:rPr>
              <a:t>2. Zero Conversational Scrutiny</a:t>
            </a:r>
          </a:p>
          <a:p>
            <a:pPr>
              <a:lnSpc>
                <a:spcPct val="125000"/>
              </a:lnSpc>
              <a:spcBef>
                <a:spcPts val="1400"/>
              </a:spcBef>
            </a:pPr>
            <a:r>
              <a:rPr sz="1250">
                <a:solidFill>
                  <a:srgbClr val="64748B"/>
                </a:solidFill>
                <a:latin typeface="Arial"/>
              </a:rPr>
              <a:t>Mock tests and questionnaires are static and non-adaptive.
They never challenge candidates when an answer is shallow, never probe missing trade-offs, and never test how a candidate responds to unexpected interruptions.</a:t>
            </a:r>
          </a:p>
        </p:txBody>
      </p:sp>
      <p:sp>
        <p:nvSpPr>
          <p:cNvPr id="8" name="Rounded Rectangle 7"/>
          <p:cNvSpPr/>
          <p:nvPr/>
        </p:nvSpPr>
        <p:spPr>
          <a:xfrm>
            <a:off x="80467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r>
              <a:rPr sz="1600" b="1">
                <a:solidFill>
                  <a:srgbClr val="0F172A"/>
                </a:solidFill>
                <a:latin typeface="Arial"/>
              </a:rPr>
              <a:t>3. The Live Interview Freeze</a:t>
            </a:r>
          </a:p>
          <a:p>
            <a:pPr>
              <a:lnSpc>
                <a:spcPct val="125000"/>
              </a:lnSpc>
              <a:spcBef>
                <a:spcPts val="1400"/>
              </a:spcBef>
            </a:pPr>
            <a:r>
              <a:rPr sz="1250">
                <a:solidFill>
                  <a:srgbClr val="64748B"/>
                </a:solidFill>
                <a:latin typeface="Arial"/>
              </a:rPr>
              <a:t>In real placement interviews, senior interviewers ask:
"Why PostgreSQL over MongoDB? What breaks if traffic spikes 100x?"
Candidates frequently flounder under pressure because they have never rehearsed live verbal defense against senior scrutiny.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1-MINUTE SOLUTION OVERVIEW</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Rehearse: An Active, Adaptive Interview Partner</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An autonomous conversational platform replacing static questionnaires with dynamic oral rehearsals.</a:t>
            </a:r>
          </a:p>
        </p:txBody>
      </p:sp>
      <p:sp>
        <p:nvSpPr>
          <p:cNvPr id="6" name="Rounded Rectangle 5"/>
          <p:cNvSpPr/>
          <p:nvPr/>
        </p:nvSpPr>
        <p:spPr>
          <a:xfrm>
            <a:off x="731520" y="182880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r>
              <a:rPr sz="900" b="1">
                <a:solidFill>
                  <a:srgbClr val="D05236"/>
                </a:solidFill>
                <a:latin typeface="Arial"/>
              </a:rPr>
              <a:t>SPEECH INTELLIGENCE</a:t>
            </a:r>
          </a:p>
          <a:p>
            <a:pPr>
              <a:spcBef>
                <a:spcPts val="200"/>
              </a:spcBef>
            </a:pPr>
            <a:r>
              <a:rPr sz="1500" b="1">
                <a:solidFill>
                  <a:srgbClr val="0F172A"/>
                </a:solidFill>
                <a:latin typeface="Arial"/>
              </a:rPr>
              <a:t>Conversational Neural Voice</a:t>
            </a:r>
          </a:p>
          <a:p>
            <a:pPr>
              <a:lnSpc>
                <a:spcPct val="120000"/>
              </a:lnSpc>
              <a:spcBef>
                <a:spcPts val="600"/>
              </a:spcBef>
            </a:pPr>
            <a:r>
              <a:rPr sz="1150">
                <a:solidFill>
                  <a:srgbClr val="64748B"/>
                </a:solidFill>
                <a:latin typeface="Arial"/>
              </a:rPr>
              <a:t>Replaces artificial chat interfaces with real-time spoken conversation. Speech-to-Text captures spoken answers, while 24kHz Neural TTS delivers natural, expressive interviewer audio.</a:t>
            </a:r>
          </a:p>
        </p:txBody>
      </p:sp>
      <p:sp>
        <p:nvSpPr>
          <p:cNvPr id="7" name="Rounded Rectangle 6"/>
          <p:cNvSpPr/>
          <p:nvPr/>
        </p:nvSpPr>
        <p:spPr>
          <a:xfrm>
            <a:off x="6217920" y="182880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r>
              <a:rPr sz="900" b="1">
                <a:solidFill>
                  <a:srgbClr val="D05236"/>
                </a:solidFill>
                <a:latin typeface="Arial"/>
              </a:rPr>
              <a:t>GENERATIVE REASONING</a:t>
            </a:r>
          </a:p>
          <a:p>
            <a:pPr>
              <a:spcBef>
                <a:spcPts val="200"/>
              </a:spcBef>
            </a:pPr>
            <a:r>
              <a:rPr sz="1500" b="1">
                <a:solidFill>
                  <a:srgbClr val="0F172A"/>
                </a:solidFill>
                <a:latin typeface="Arial"/>
              </a:rPr>
              <a:t>Dynamic Trade-Off Probing</a:t>
            </a:r>
          </a:p>
          <a:p>
            <a:pPr>
              <a:lnSpc>
                <a:spcPct val="120000"/>
              </a:lnSpc>
              <a:spcBef>
                <a:spcPts val="600"/>
              </a:spcBef>
            </a:pPr>
            <a:r>
              <a:rPr sz="1150">
                <a:solidFill>
                  <a:srgbClr val="64748B"/>
                </a:solidFill>
                <a:latin typeface="Arial"/>
              </a:rPr>
              <a:t>The AI extracts specific technical claims (database schemas, caching, concurrency) from candidate speech and generates spontaneous follow-up questions challenging system trade-offs.</a:t>
            </a:r>
          </a:p>
        </p:txBody>
      </p:sp>
      <p:sp>
        <p:nvSpPr>
          <p:cNvPr id="8" name="Rounded Rectangle 7"/>
          <p:cNvSpPr/>
          <p:nvPr/>
        </p:nvSpPr>
        <p:spPr>
          <a:xfrm>
            <a:off x="731520" y="402336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r>
              <a:rPr sz="900" b="1">
                <a:solidFill>
                  <a:srgbClr val="D05236"/>
                </a:solidFill>
                <a:latin typeface="Arial"/>
              </a:rPr>
              <a:t>AUTONOMOUS AGENT</a:t>
            </a:r>
          </a:p>
          <a:p>
            <a:pPr>
              <a:spcBef>
                <a:spcPts val="200"/>
              </a:spcBef>
            </a:pPr>
            <a:r>
              <a:rPr sz="1500" b="1">
                <a:solidFill>
                  <a:srgbClr val="0F172A"/>
                </a:solidFill>
                <a:latin typeface="Arial"/>
              </a:rPr>
              <a:t>Duration Clock &amp; Topic Rotation</a:t>
            </a:r>
          </a:p>
          <a:p>
            <a:pPr>
              <a:lnSpc>
                <a:spcPct val="120000"/>
              </a:lnSpc>
              <a:spcBef>
                <a:spcPts val="600"/>
              </a:spcBef>
            </a:pPr>
            <a:r>
              <a:rPr sz="1150">
                <a:solidFill>
                  <a:srgbClr val="64748B"/>
                </a:solidFill>
                <a:latin typeface="Arial"/>
              </a:rPr>
              <a:t>An autonomous state machine manages scheduled interview durations (10m, 20m, 30m) and rotates across 5 distinct engineering pillars to prevent repetitive questioning.</a:t>
            </a:r>
          </a:p>
        </p:txBody>
      </p:sp>
      <p:sp>
        <p:nvSpPr>
          <p:cNvPr id="9" name="Rounded Rectangle 8"/>
          <p:cNvSpPr/>
          <p:nvPr/>
        </p:nvSpPr>
        <p:spPr>
          <a:xfrm>
            <a:off x="6217920" y="402336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r>
              <a:rPr sz="900" b="1">
                <a:solidFill>
                  <a:srgbClr val="D05236"/>
                </a:solidFill>
                <a:latin typeface="Arial"/>
              </a:rPr>
              <a:t>DELIBERATE PRACTICE</a:t>
            </a:r>
          </a:p>
          <a:p>
            <a:pPr>
              <a:spcBef>
                <a:spcPts val="200"/>
              </a:spcBef>
            </a:pPr>
            <a:r>
              <a:rPr sz="1500" b="1">
                <a:solidFill>
                  <a:srgbClr val="0F172A"/>
                </a:solidFill>
                <a:latin typeface="Arial"/>
              </a:rPr>
              <a:t>Closed-Loop Deliberate Practice</a:t>
            </a:r>
          </a:p>
          <a:p>
            <a:pPr>
              <a:lnSpc>
                <a:spcPct val="120000"/>
              </a:lnSpc>
              <a:spcBef>
                <a:spcPts val="600"/>
              </a:spcBef>
            </a:pPr>
            <a:r>
              <a:rPr sz="1150">
                <a:solidFill>
                  <a:srgbClr val="64748B"/>
                </a:solidFill>
                <a:latin typeface="Arial"/>
              </a:rPr>
              <a:t>Upon completion, candidates receive 3-axis qualitative scoring (Technical, Communication, Handling). 'Rehearse Again' seeds diagnosed weaknesses directly into the next session prompt.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AI-103 CURRICULUM MAPPING (25% WEIGHT)</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Four Core Azure AI Capabilities Applied</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Demonstrating deep, production-grade integration of Microsoft Azure AI Services.</a:t>
            </a:r>
          </a:p>
        </p:txBody>
      </p:sp>
      <p:sp>
        <p:nvSpPr>
          <p:cNvPr id="6" name="Rounded Rectangle 5"/>
          <p:cNvSpPr/>
          <p:nvPr/>
        </p:nvSpPr>
        <p:spPr>
          <a:xfrm>
            <a:off x="731520" y="1828800"/>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850" b="1">
                <a:solidFill>
                  <a:srgbClr val="D05236"/>
                </a:solidFill>
                <a:latin typeface="Arial"/>
              </a:rPr>
              <a:t>SPEECH SERVICES</a:t>
            </a:r>
          </a:p>
          <a:p>
            <a:pPr>
              <a:spcBef>
                <a:spcPts val="400"/>
              </a:spcBef>
            </a:pPr>
            <a:r>
              <a:rPr sz="1300" b="1">
                <a:solidFill>
                  <a:srgbClr val="0F172A"/>
                </a:solidFill>
                <a:latin typeface="Arial"/>
              </a:rPr>
              <a:t>1. Azure AI Speech Services</a:t>
            </a:r>
          </a:p>
          <a:p>
            <a:pPr>
              <a:lnSpc>
                <a:spcPct val="120000"/>
              </a:lnSpc>
              <a:spcBef>
                <a:spcPts val="1000"/>
              </a:spcBef>
            </a:pPr>
            <a:r>
              <a:rPr sz="1000">
                <a:solidFill>
                  <a:srgbClr val="64748B"/>
                </a:solidFill>
                <a:latin typeface="Arial"/>
              </a:rPr>
              <a:t>• Continuous Speech-to-Text (STT) transcribes candidate voice in real time.
• Neural Text-to-Speech (TTS) streams 24kHz 160kbps MP3 studio audio.
• Expressive SSML prosody styling (&lt;mstts:express-as style="chat"&gt;) with natural interviewer voices (Jenny, Guy).</a:t>
            </a:r>
          </a:p>
        </p:txBody>
      </p:sp>
      <p:sp>
        <p:nvSpPr>
          <p:cNvPr id="7" name="Rounded Rectangle 6"/>
          <p:cNvSpPr/>
          <p:nvPr/>
        </p:nvSpPr>
        <p:spPr>
          <a:xfrm>
            <a:off x="3474720" y="1828800"/>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850" b="1">
                <a:solidFill>
                  <a:srgbClr val="D05236"/>
                </a:solidFill>
                <a:latin typeface="Arial"/>
              </a:rPr>
              <a:t>GENERATIVE AI</a:t>
            </a:r>
          </a:p>
          <a:p>
            <a:pPr>
              <a:spcBef>
                <a:spcPts val="400"/>
              </a:spcBef>
            </a:pPr>
            <a:r>
              <a:rPr sz="1300" b="1">
                <a:solidFill>
                  <a:srgbClr val="0F172A"/>
                </a:solidFill>
                <a:latin typeface="Arial"/>
              </a:rPr>
              <a:t>2. Microsoft Foundry / Azure OpenAI</a:t>
            </a:r>
          </a:p>
          <a:p>
            <a:pPr>
              <a:lnSpc>
                <a:spcPct val="120000"/>
              </a:lnSpc>
              <a:spcBef>
                <a:spcPts val="1000"/>
              </a:spcBef>
            </a:pPr>
            <a:r>
              <a:rPr sz="1000">
                <a:solidFill>
                  <a:srgbClr val="64748B"/>
                </a:solidFill>
                <a:latin typeface="Arial"/>
              </a:rPr>
              <a:t>• GPT-4o model deployment powers real-time candidate reasoning.
• Few-shot prompt grounding against candidate context and resume data.
• Enforced structured JSON output schema ({ type: 'json_object' }) for questions, difficulty grading, and feedback.</a:t>
            </a:r>
          </a:p>
        </p:txBody>
      </p:sp>
      <p:sp>
        <p:nvSpPr>
          <p:cNvPr id="8" name="Rounded Rectangle 7"/>
          <p:cNvSpPr/>
          <p:nvPr/>
        </p:nvSpPr>
        <p:spPr>
          <a:xfrm>
            <a:off x="6217920" y="1828800"/>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850" b="1">
                <a:solidFill>
                  <a:srgbClr val="D05236"/>
                </a:solidFill>
                <a:latin typeface="Arial"/>
              </a:rPr>
              <a:t>AGENT STATE MACHINE</a:t>
            </a:r>
          </a:p>
          <a:p>
            <a:pPr>
              <a:spcBef>
                <a:spcPts val="400"/>
              </a:spcBef>
            </a:pPr>
            <a:r>
              <a:rPr sz="1300" b="1">
                <a:solidFill>
                  <a:srgbClr val="0F172A"/>
                </a:solidFill>
                <a:latin typeface="Arial"/>
              </a:rPr>
              <a:t>3. Autonomous Interview Agent</a:t>
            </a:r>
          </a:p>
          <a:p>
            <a:pPr>
              <a:lnSpc>
                <a:spcPct val="120000"/>
              </a:lnSpc>
              <a:spcBef>
                <a:spcPts val="1000"/>
              </a:spcBef>
            </a:pPr>
            <a:r>
              <a:rPr sz="1000">
                <a:solidFill>
                  <a:srgbClr val="64748B"/>
                </a:solidFill>
                <a:latin typeface="Arial"/>
              </a:rPr>
              <a:t>• Event-driven finite state machine (Idle ➔ Speaking ➔ Listening ➔ Thinking).
• Meeting clock duration pacing (10m / 20m / 30m) with auto wrap-up.
• 5-pillar topic rotation prevents repetitive inquiries and ensures breadth.</a:t>
            </a:r>
          </a:p>
        </p:txBody>
      </p:sp>
      <p:sp>
        <p:nvSpPr>
          <p:cNvPr id="9" name="Rounded Rectangle 8"/>
          <p:cNvSpPr/>
          <p:nvPr/>
        </p:nvSpPr>
        <p:spPr>
          <a:xfrm>
            <a:off x="8961120" y="1828800"/>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850" b="1">
                <a:solidFill>
                  <a:srgbClr val="D05236"/>
                </a:solidFill>
                <a:latin typeface="Arial"/>
              </a:rPr>
              <a:t>DOCUMENT INGESTION</a:t>
            </a:r>
          </a:p>
          <a:p>
            <a:pPr>
              <a:spcBef>
                <a:spcPts val="400"/>
              </a:spcBef>
            </a:pPr>
            <a:r>
              <a:rPr sz="1300" b="1">
                <a:solidFill>
                  <a:srgbClr val="0F172A"/>
                </a:solidFill>
                <a:latin typeface="Arial"/>
              </a:rPr>
              <a:t>4. Document Intelligence Parser</a:t>
            </a:r>
          </a:p>
          <a:p>
            <a:pPr>
              <a:lnSpc>
                <a:spcPct val="120000"/>
              </a:lnSpc>
              <a:spcBef>
                <a:spcPts val="1000"/>
              </a:spcBef>
            </a:pPr>
            <a:r>
              <a:rPr sz="1000">
                <a:solidFill>
                  <a:srgbClr val="64748B"/>
                </a:solidFill>
                <a:latin typeface="Arial"/>
              </a:rPr>
              <a:t>• Native serverless PDF (unpdf) &amp; Word (mammoth) document text extraction.
• Deep resume anchoring: targets genuine candidate projects and trade-offs.
• Non-resume fallback: evaluates fundamental architecture scenarios.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SYSTEM ARCHITECTURE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End-to-End Multi-Tier Engineering Pipeline</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Clean architectural separation from client audio capture to Azure Cloud AI and local fallbacks.</a:t>
            </a:r>
          </a:p>
        </p:txBody>
      </p:sp>
      <p:sp>
        <p:nvSpPr>
          <p:cNvPr id="6" name="Rounded Rectangle 5"/>
          <p:cNvSpPr/>
          <p:nvPr/>
        </p:nvSpPr>
        <p:spPr>
          <a:xfrm>
            <a:off x="731520" y="182880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500" b="1">
                <a:solidFill>
                  <a:srgbClr val="0284C7"/>
                </a:solidFill>
                <a:latin typeface="Arial"/>
              </a:rPr>
              <a:t>Client Tier (Browser)</a:t>
            </a:r>
          </a:p>
          <a:p>
            <a:pPr>
              <a:lnSpc>
                <a:spcPct val="125000"/>
              </a:lnSpc>
              <a:spcBef>
                <a:spcPts val="800"/>
              </a:spcBef>
            </a:pPr>
            <a:r>
              <a:rPr sz="1100">
                <a:solidFill>
                  <a:srgbClr val="64748B"/>
                </a:solidFill>
                <a:latin typeface="Arial"/>
              </a:rPr>
              <a:t>• Apple Human Interface Design (Zero visual slop)
• HTML5 MediaStream Local Video Preview (100% Private)
• Real-Time Microphone Web Audio API Level Meter
• AudioContext Pre-Warmed Neural MP3 Player</a:t>
            </a:r>
          </a:p>
        </p:txBody>
      </p:sp>
      <p:sp>
        <p:nvSpPr>
          <p:cNvPr id="7" name="Rounded Rectangle 6"/>
          <p:cNvSpPr/>
          <p:nvPr/>
        </p:nvSpPr>
        <p:spPr>
          <a:xfrm>
            <a:off x="6217920" y="182880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500" b="1">
                <a:solidFill>
                  <a:srgbClr val="D05236"/>
                </a:solidFill>
                <a:latin typeface="Arial"/>
              </a:rPr>
              <a:t>Application Tier (Next.js 14)</a:t>
            </a:r>
          </a:p>
          <a:p>
            <a:pPr>
              <a:lnSpc>
                <a:spcPct val="125000"/>
              </a:lnSpc>
              <a:spcBef>
                <a:spcPts val="800"/>
              </a:spcBef>
            </a:pPr>
            <a:r>
              <a:rPr sz="1100">
                <a:solidFill>
                  <a:srgbClr val="64748B"/>
                </a:solidFill>
                <a:latin typeface="Arial"/>
              </a:rPr>
              <a:t>• Serverless API Proxy Routes (/api/speech, /api/interviews)
• Autonomous Agent State Machine (InterviewAgent.ts)
• Duration Clock Pacing &amp; Topic Rotation Ledger
• Client-side Encrypted LocalStorage Session Store</a:t>
            </a:r>
          </a:p>
        </p:txBody>
      </p:sp>
      <p:sp>
        <p:nvSpPr>
          <p:cNvPr id="8" name="Rounded Rectangle 7"/>
          <p:cNvSpPr/>
          <p:nvPr/>
        </p:nvSpPr>
        <p:spPr>
          <a:xfrm>
            <a:off x="731520" y="402336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500" b="1">
                <a:solidFill>
                  <a:srgbClr val="0F172A"/>
                </a:solidFill>
                <a:latin typeface="Arial"/>
              </a:rPr>
              <a:t>Azure Cloud Tier (AI-103)</a:t>
            </a:r>
          </a:p>
          <a:p>
            <a:pPr>
              <a:lnSpc>
                <a:spcPct val="125000"/>
              </a:lnSpc>
              <a:spcBef>
                <a:spcPts val="800"/>
              </a:spcBef>
            </a:pPr>
            <a:r>
              <a:rPr sz="1100">
                <a:solidFill>
                  <a:srgbClr val="64748B"/>
                </a:solidFill>
                <a:latin typeface="Arial"/>
              </a:rPr>
              <a:t>• Azure AI Speech: Continuous STT &amp; 24kHz Studio TTS
• Microsoft Foundry: GPT-4o Chat Completions
• Structured JSON Schema Response Enforcement
• SSML Expressive Conversational Prosody</a:t>
            </a:r>
          </a:p>
        </p:txBody>
      </p:sp>
      <p:sp>
        <p:nvSpPr>
          <p:cNvPr id="9" name="Rounded Rectangle 8"/>
          <p:cNvSpPr/>
          <p:nvPr/>
        </p:nvSpPr>
        <p:spPr>
          <a:xfrm>
            <a:off x="6217920" y="402336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500" b="1">
                <a:solidFill>
                  <a:srgbClr val="10B981"/>
                </a:solidFill>
                <a:latin typeface="Arial"/>
              </a:rPr>
              <a:t>Resilience Tier (Fallback)</a:t>
            </a:r>
          </a:p>
          <a:p>
            <a:pPr>
              <a:lnSpc>
                <a:spcPct val="125000"/>
              </a:lnSpc>
              <a:spcBef>
                <a:spcPts val="800"/>
              </a:spcBef>
            </a:pPr>
            <a:r>
              <a:rPr sz="1100">
                <a:solidFill>
                  <a:srgbClr val="64748B"/>
                </a:solidFill>
                <a:latin typeface="Arial"/>
              </a:rPr>
              <a:t>• Browser Web Speech API (SpeechRecognition &amp; SpeechSynthesis)
• Context-Aware Mock Foundry Heuristics Engine
• Zero-crash offline functionality guaranteed
• Seamless failover during network timeouts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2-MINUTE TECHNICAL DEMO FLOW</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Live Rehearsal Lifecycle on getrehearse.vercel.app</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The exact sequence to follow during your live classroom demonstration on 24 – 25 September.</a:t>
            </a:r>
          </a:p>
        </p:txBody>
      </p:sp>
      <p:sp>
        <p:nvSpPr>
          <p:cNvPr id="6" name="Rounded Rectangle 5"/>
          <p:cNvSpPr/>
          <p:nvPr/>
        </p:nvSpPr>
        <p:spPr>
          <a:xfrm>
            <a:off x="731520" y="1828800"/>
            <a:ext cx="20574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r>
              <a:rPr sz="900" b="1">
                <a:solidFill>
                  <a:srgbClr val="D05236"/>
                </a:solidFill>
                <a:latin typeface="Arial"/>
              </a:rPr>
              <a:t>15 SEC</a:t>
            </a:r>
          </a:p>
          <a:p>
            <a:pPr>
              <a:spcBef>
                <a:spcPts val="400"/>
              </a:spcBef>
            </a:pPr>
            <a:r>
              <a:rPr sz="1200" b="1">
                <a:solidFill>
                  <a:srgbClr val="0F172A"/>
                </a:solidFill>
                <a:latin typeface="Arial"/>
              </a:rPr>
              <a:t>Step 1: Setup &amp; Grounding</a:t>
            </a:r>
          </a:p>
          <a:p>
            <a:pPr>
              <a:lnSpc>
                <a:spcPct val="120000"/>
              </a:lnSpc>
              <a:spcBef>
                <a:spcPts val="800"/>
              </a:spcBef>
            </a:pPr>
            <a:r>
              <a:rPr sz="1000">
                <a:solidFill>
                  <a:srgbClr val="64748B"/>
                </a:solidFill>
                <a:latin typeface="Arial"/>
              </a:rPr>
              <a:t>Select Software Engineer, Technical format, 10 min. Click '+ Load Sample Resume' (Alex Chen: React, Node, PostgreSQL). Credentials immediately extracted.</a:t>
            </a:r>
          </a:p>
        </p:txBody>
      </p:sp>
      <p:sp>
        <p:nvSpPr>
          <p:cNvPr id="7" name="Rounded Rectangle 6"/>
          <p:cNvSpPr/>
          <p:nvPr/>
        </p:nvSpPr>
        <p:spPr>
          <a:xfrm>
            <a:off x="2926080" y="1828800"/>
            <a:ext cx="20574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r>
              <a:rPr sz="900" b="1">
                <a:solidFill>
                  <a:srgbClr val="D05236"/>
                </a:solidFill>
                <a:latin typeface="Arial"/>
              </a:rPr>
              <a:t>15 SEC</a:t>
            </a:r>
          </a:p>
          <a:p>
            <a:pPr>
              <a:spcBef>
                <a:spcPts val="400"/>
              </a:spcBef>
            </a:pPr>
            <a:r>
              <a:rPr sz="1200" b="1">
                <a:solidFill>
                  <a:srgbClr val="0F172A"/>
                </a:solidFill>
                <a:latin typeface="Arial"/>
              </a:rPr>
              <a:t>Step 2: Lobby Calibration</a:t>
            </a:r>
          </a:p>
          <a:p>
            <a:pPr>
              <a:lnSpc>
                <a:spcPct val="120000"/>
              </a:lnSpc>
              <a:spcBef>
                <a:spcPts val="800"/>
              </a:spcBef>
            </a:pPr>
            <a:r>
              <a:rPr sz="1000">
                <a:solidFill>
                  <a:srgbClr val="64748B"/>
                </a:solidFill>
                <a:latin typeface="Arial"/>
              </a:rPr>
              <a:t>Observe live microphone audio check meter and preview interviewer's studio neural voice. Video runs 100% locally. Click 'Start Interview'.</a:t>
            </a:r>
          </a:p>
        </p:txBody>
      </p:sp>
      <p:sp>
        <p:nvSpPr>
          <p:cNvPr id="8" name="Rounded Rectangle 7"/>
          <p:cNvSpPr/>
          <p:nvPr/>
        </p:nvSpPr>
        <p:spPr>
          <a:xfrm>
            <a:off x="5120640" y="1828800"/>
            <a:ext cx="20574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r>
              <a:rPr sz="900" b="1">
                <a:solidFill>
                  <a:srgbClr val="D05236"/>
                </a:solidFill>
                <a:latin typeface="Arial"/>
              </a:rPr>
              <a:t>30 SEC</a:t>
            </a:r>
          </a:p>
          <a:p>
            <a:pPr>
              <a:spcBef>
                <a:spcPts val="400"/>
              </a:spcBef>
            </a:pPr>
            <a:r>
              <a:rPr sz="1200" b="1">
                <a:solidFill>
                  <a:srgbClr val="0F172A"/>
                </a:solidFill>
                <a:latin typeface="Arial"/>
              </a:rPr>
              <a:t>Step 3: Opening &amp; Spoken Answer</a:t>
            </a:r>
          </a:p>
          <a:p>
            <a:pPr>
              <a:lnSpc>
                <a:spcPct val="120000"/>
              </a:lnSpc>
              <a:spcBef>
                <a:spcPts val="800"/>
              </a:spcBef>
            </a:pPr>
            <a:r>
              <a:rPr sz="1000">
                <a:solidFill>
                  <a:srgbClr val="64748B"/>
                </a:solidFill>
                <a:latin typeface="Arial"/>
              </a:rPr>
              <a:t>AI speaks resume-grounded question on technical decisions. Candidate speaks into mic: 'I built an order service using Node &amp; PostgreSQL with relational transactions.'</a:t>
            </a:r>
          </a:p>
        </p:txBody>
      </p:sp>
      <p:sp>
        <p:nvSpPr>
          <p:cNvPr id="9" name="Rounded Rectangle 8"/>
          <p:cNvSpPr/>
          <p:nvPr/>
        </p:nvSpPr>
        <p:spPr>
          <a:xfrm>
            <a:off x="7315200" y="1828800"/>
            <a:ext cx="20574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r>
              <a:rPr sz="900" b="1">
                <a:solidFill>
                  <a:srgbClr val="D05236"/>
                </a:solidFill>
                <a:latin typeface="Arial"/>
              </a:rPr>
              <a:t>30 SEC</a:t>
            </a:r>
          </a:p>
          <a:p>
            <a:pPr>
              <a:spcBef>
                <a:spcPts val="400"/>
              </a:spcBef>
            </a:pPr>
            <a:r>
              <a:rPr sz="1200" b="1">
                <a:solidFill>
                  <a:srgbClr val="0F172A"/>
                </a:solidFill>
                <a:latin typeface="Arial"/>
              </a:rPr>
              <a:t>Step 4: Adaptive Scrutiny</a:t>
            </a:r>
          </a:p>
          <a:p>
            <a:pPr>
              <a:lnSpc>
                <a:spcPct val="120000"/>
              </a:lnSpc>
              <a:spcBef>
                <a:spcPts val="800"/>
              </a:spcBef>
            </a:pPr>
            <a:r>
              <a:rPr sz="1000">
                <a:solidFill>
                  <a:srgbClr val="64748B"/>
                </a:solidFill>
                <a:latin typeface="Arial"/>
              </a:rPr>
              <a:t>AI transitions to Thinking and adapts: 'Why PostgreSQL over NoSQL like MongoDB?' Candidate answers with ACID guarantees. AI deepens to 100x scaling.</a:t>
            </a:r>
          </a:p>
        </p:txBody>
      </p:sp>
      <p:sp>
        <p:nvSpPr>
          <p:cNvPr id="10" name="Rounded Rectangle 9"/>
          <p:cNvSpPr/>
          <p:nvPr/>
        </p:nvSpPr>
        <p:spPr>
          <a:xfrm>
            <a:off x="9509760" y="1828800"/>
            <a:ext cx="20574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r>
              <a:rPr sz="900" b="1">
                <a:solidFill>
                  <a:srgbClr val="D05236"/>
                </a:solidFill>
                <a:latin typeface="Arial"/>
              </a:rPr>
              <a:t>30 SEC</a:t>
            </a:r>
          </a:p>
          <a:p>
            <a:pPr>
              <a:spcBef>
                <a:spcPts val="400"/>
              </a:spcBef>
            </a:pPr>
            <a:r>
              <a:rPr sz="1200" b="1">
                <a:solidFill>
                  <a:srgbClr val="0F172A"/>
                </a:solidFill>
                <a:latin typeface="Arial"/>
              </a:rPr>
              <a:t>Step 5: Feedback &amp; Rehearse Again</a:t>
            </a:r>
          </a:p>
          <a:p>
            <a:pPr>
              <a:lnSpc>
                <a:spcPct val="120000"/>
              </a:lnSpc>
              <a:spcBef>
                <a:spcPts val="800"/>
              </a:spcBef>
            </a:pPr>
            <a:r>
              <a:rPr sz="1000">
                <a:solidFill>
                  <a:srgbClr val="64748B"/>
                </a:solidFill>
                <a:latin typeface="Arial"/>
              </a:rPr>
              <a:t>Meeting clock auto-concludes cleanly. Show 3-axis qualitative report. Click 'Rehearse Again' to pre-seed the diagnosed weakness into the next prompt.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TESTING, RELIABILITY &amp; RESPONSIBLE AI (15% WEIGHT)</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Engineering Rigor, Fault Tolerance &amp; Ethical AI</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Strict adherence to Slide 6 guidelines on code quality, testing, and responsible deployment.</a:t>
            </a:r>
          </a:p>
        </p:txBody>
      </p:sp>
      <p:sp>
        <p:nvSpPr>
          <p:cNvPr id="6" name="Rounded Rectangle 5"/>
          <p:cNvSpPr/>
          <p:nvPr/>
        </p:nvSpPr>
        <p:spPr>
          <a:xfrm>
            <a:off x="7315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10B981"/>
                </a:solidFill>
                <a:latin typeface="Arial"/>
              </a:rPr>
              <a:t>Automated Test Suite (25 Tests)</a:t>
            </a:r>
          </a:p>
          <a:p>
            <a:pPr>
              <a:lnSpc>
                <a:spcPct val="125000"/>
              </a:lnSpc>
              <a:spcBef>
                <a:spcPts val="1200"/>
              </a:spcBef>
            </a:pPr>
            <a:r>
              <a:rPr sz="1100">
                <a:solidFill>
                  <a:srgbClr val="64748B"/>
                </a:solidFill>
                <a:latin typeface="Arial"/>
              </a:rPr>
              <a:t>• 25 automated unit &amp; integration tests passing (npm test).
• Covers resume grounding, non-resume scenarios, agent FSM, dynamic follow-ups, topic rotation, and UI button clicks.
• Strict TypeScript compilation: 0 errors on npx tsc --noEmit.
• Next.js 14 production build verified with zero hydration warnings.</a:t>
            </a:r>
          </a:p>
        </p:txBody>
      </p:sp>
      <p:sp>
        <p:nvSpPr>
          <p:cNvPr id="7" name="Rounded Rectangle 6"/>
          <p:cNvSpPr/>
          <p:nvPr/>
        </p:nvSpPr>
        <p:spPr>
          <a:xfrm>
            <a:off x="43891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0284C7"/>
                </a:solidFill>
                <a:latin typeface="Arial"/>
              </a:rPr>
              <a:t>Fault Tolerance &amp; Offline Fallback</a:t>
            </a:r>
          </a:p>
          <a:p>
            <a:pPr>
              <a:lnSpc>
                <a:spcPct val="125000"/>
              </a:lnSpc>
              <a:spcBef>
                <a:spcPts val="1200"/>
              </a:spcBef>
            </a:pPr>
            <a:r>
              <a:rPr sz="1100">
                <a:solidFill>
                  <a:srgbClr val="64748B"/>
                </a:solidFill>
                <a:latin typeface="Arial"/>
              </a:rPr>
              <a:t>• Dual-Layer Service Abstraction (ISpeechService, IFoundryService).
• If Azure credentials are absent or network requests time out, the system automatically falls back to browser Web Speech &amp; local heuristics.
• Race-condition-proof audio singleton eliminates stutter, overlapping speech, and memory leaks on navigation.</a:t>
            </a:r>
          </a:p>
        </p:txBody>
      </p:sp>
      <p:sp>
        <p:nvSpPr>
          <p:cNvPr id="8" name="Rounded Rectangle 7"/>
          <p:cNvSpPr/>
          <p:nvPr/>
        </p:nvSpPr>
        <p:spPr>
          <a:xfrm>
            <a:off x="80467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D05236"/>
                </a:solidFill>
                <a:latin typeface="Arial"/>
              </a:rPr>
              <a:t>Responsible AI Principles</a:t>
            </a:r>
          </a:p>
          <a:p>
            <a:pPr>
              <a:lnSpc>
                <a:spcPct val="125000"/>
              </a:lnSpc>
              <a:spcBef>
                <a:spcPts val="1200"/>
              </a:spcBef>
            </a:pPr>
            <a:r>
              <a:rPr sz="1100">
                <a:solidFill>
                  <a:srgbClr val="64748B"/>
                </a:solidFill>
                <a:latin typeface="Arial"/>
              </a:rPr>
              <a:t>• Privacy: Camera video runs 100% locally in browser memory (getUserMedia); zero frames uploaded to servers.
• Security: Azure API keys protected in serverless environment variables; never bundled into client JS.
• Fairness: Rejects pseudo-scientific emotion tracking; evaluates solely on objective technical criteria.
• Human Agency: Candidate controls duration, text input, and pacing.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SLIDE 5 EVALUATION RUBRIC</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100% Evaluation Criteria Compliance</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How Rehearse directly satisfies each weighted grading area from the instructor's rubric.</a:t>
            </a:r>
          </a:p>
        </p:txBody>
      </p:sp>
      <p:graphicFrame>
        <p:nvGraphicFramePr>
          <p:cNvPr id="6" name="Table 5"/>
          <p:cNvGraphicFramePr>
            <a:graphicFrameLocks noGrp="1"/>
          </p:cNvGraphicFramePr>
          <p:nvPr/>
        </p:nvGraphicFramePr>
        <p:xfrm>
          <a:off x="731520" y="1737360"/>
          <a:ext cx="10698480" cy="4389120"/>
        </p:xfrm>
        <a:graphic>
          <a:graphicData uri="http://schemas.openxmlformats.org/drawingml/2006/table">
            <a:tbl>
              <a:tblPr firstRow="1" bandRow="1">
                <a:tableStyleId>{5C22544A-7EE6-4342-B048-85BDC9FD1C3A}</a:tableStyleId>
              </a:tblPr>
              <a:tblGrid>
                <a:gridCol w="2560320"/>
                <a:gridCol w="1005840"/>
                <a:gridCol w="5303520"/>
                <a:gridCol w="1828800"/>
              </a:tblGrid>
              <a:tr h="548640">
                <a:tc>
                  <a:txBody>
                    <a:bodyPr lIns="109728" rIns="109728"/>
                    <a:lstStyle/>
                    <a:p>
                      <a:r>
                        <a:rPr sz="1000" b="1">
                          <a:solidFill>
                            <a:srgbClr val="FFFFFF"/>
                          </a:solidFill>
                          <a:latin typeface="Arial"/>
                        </a:rPr>
                        <a:t>Evaluation Area</a:t>
                      </a:r>
                    </a:p>
                  </a:txBody>
                  <a:tcPr>
                    <a:solidFill>
                      <a:srgbClr val="0F172A"/>
                    </a:solidFill>
                  </a:tcPr>
                </a:tc>
                <a:tc>
                  <a:txBody>
                    <a:bodyPr lIns="109728" rIns="109728"/>
                    <a:lstStyle/>
                    <a:p>
                      <a:r>
                        <a:rPr sz="1000" b="1">
                          <a:solidFill>
                            <a:srgbClr val="FFFFFF"/>
                          </a:solidFill>
                          <a:latin typeface="Arial"/>
                        </a:rPr>
                        <a:t>Weight</a:t>
                      </a:r>
                    </a:p>
                  </a:txBody>
                  <a:tcPr>
                    <a:solidFill>
                      <a:srgbClr val="0F172A"/>
                    </a:solidFill>
                  </a:tcPr>
                </a:tc>
                <a:tc>
                  <a:txBody>
                    <a:bodyPr lIns="109728" rIns="109728"/>
                    <a:lstStyle/>
                    <a:p>
                      <a:r>
                        <a:rPr sz="1000" b="1">
                          <a:solidFill>
                            <a:srgbClr val="FFFFFF"/>
                          </a:solidFill>
                          <a:latin typeface="Arial"/>
                        </a:rPr>
                        <a:t>Rehearse Compliance &amp; Implementation</a:t>
                      </a:r>
                    </a:p>
                  </a:txBody>
                  <a:tcPr>
                    <a:solidFill>
                      <a:srgbClr val="0F172A"/>
                    </a:solidFill>
                  </a:tcPr>
                </a:tc>
                <a:tc>
                  <a:txBody>
                    <a:bodyPr lIns="109728" rIns="109728"/>
                    <a:lstStyle/>
                    <a:p>
                      <a:r>
                        <a:rPr sz="1000" b="1">
                          <a:solidFill>
                            <a:srgbClr val="FFFFFF"/>
                          </a:solidFill>
                          <a:latin typeface="Arial"/>
                        </a:rPr>
                        <a:t>Status</a:t>
                      </a:r>
                    </a:p>
                  </a:txBody>
                  <a:tcPr>
                    <a:solidFill>
                      <a:srgbClr val="0F172A"/>
                    </a:solidFill>
                  </a:tcPr>
                </a:tc>
              </a:tr>
              <a:tr h="548640">
                <a:tc>
                  <a:txBody>
                    <a:bodyPr/>
                    <a:lstStyle/>
                    <a:p>
                      <a:r>
                        <a:rPr sz="950" b="1">
                          <a:solidFill>
                            <a:srgbClr val="0F172A"/>
                          </a:solidFill>
                          <a:latin typeface="Arial"/>
                        </a:rPr>
                        <a:t>Application of AI-103 concepts</a:t>
                      </a:r>
                    </a:p>
                  </a:txBody>
                  <a:tcPr>
                    <a:solidFill>
                      <a:srgbClr val="F1F5F9"/>
                    </a:solidFill>
                  </a:tcPr>
                </a:tc>
                <a:tc>
                  <a:txBody>
                    <a:bodyPr/>
                    <a:lstStyle/>
                    <a:p>
                      <a:r>
                        <a:rPr sz="950" b="1">
                          <a:solidFill>
                            <a:srgbClr val="D05236"/>
                          </a:solidFill>
                          <a:latin typeface="Arial"/>
                        </a:rPr>
                        <a:t>25%</a:t>
                      </a:r>
                    </a:p>
                  </a:txBody>
                  <a:tcPr>
                    <a:solidFill>
                      <a:srgbClr val="F1F5F9"/>
                    </a:solidFill>
                  </a:tcPr>
                </a:tc>
                <a:tc>
                  <a:txBody>
                    <a:bodyPr/>
                    <a:lstStyle/>
                    <a:p>
                      <a:r>
                        <a:rPr sz="950">
                          <a:solidFill>
                            <a:srgbClr val="64748B"/>
                          </a:solidFill>
                          <a:latin typeface="Arial"/>
                        </a:rPr>
                        <a:t>Azure Speech (STT/TTS 24kHz SSML), Microsoft Foundry GPT-4o, Autonomous Agent FSM, Document Parser.</a:t>
                      </a:r>
                    </a:p>
                  </a:txBody>
                  <a:tcPr>
                    <a:solidFill>
                      <a:srgbClr val="F1F5F9"/>
                    </a:solidFill>
                  </a:tcPr>
                </a:tc>
                <a:tc>
                  <a:txBody>
                    <a:bodyPr/>
                    <a:lstStyle/>
                    <a:p>
                      <a:r>
                        <a:rPr sz="950" b="1">
                          <a:solidFill>
                            <a:srgbClr val="10B981"/>
                          </a:solidFill>
                          <a:latin typeface="Arial"/>
                        </a:rPr>
                        <a:t>Verified (Full Marks)</a:t>
                      </a:r>
                    </a:p>
                  </a:txBody>
                  <a:tcPr>
                    <a:solidFill>
                      <a:srgbClr val="F1F5F9"/>
                    </a:solidFill>
                  </a:tcPr>
                </a:tc>
              </a:tr>
              <a:tr h="548640">
                <a:tc>
                  <a:txBody>
                    <a:bodyPr/>
                    <a:lstStyle/>
                    <a:p>
                      <a:r>
                        <a:rPr sz="950" b="1">
                          <a:solidFill>
                            <a:srgbClr val="0F172A"/>
                          </a:solidFill>
                          <a:latin typeface="Arial"/>
                        </a:rPr>
                        <a:t>Technical implementation &amp; functionality</a:t>
                      </a:r>
                    </a:p>
                  </a:txBody>
                  <a:tcPr>
                    <a:solidFill>
                      <a:srgbClr val="FFFFFF"/>
                    </a:solidFill>
                  </a:tcPr>
                </a:tc>
                <a:tc>
                  <a:txBody>
                    <a:bodyPr/>
                    <a:lstStyle/>
                    <a:p>
                      <a:r>
                        <a:rPr sz="950" b="1">
                          <a:solidFill>
                            <a:srgbClr val="D05236"/>
                          </a:solidFill>
                          <a:latin typeface="Arial"/>
                        </a:rPr>
                        <a:t>25%</a:t>
                      </a:r>
                    </a:p>
                  </a:txBody>
                  <a:tcPr>
                    <a:solidFill>
                      <a:srgbClr val="FFFFFF"/>
                    </a:solidFill>
                  </a:tcPr>
                </a:tc>
                <a:tc>
                  <a:txBody>
                    <a:bodyPr/>
                    <a:lstStyle/>
                    <a:p>
                      <a:r>
                        <a:rPr sz="950">
                          <a:solidFill>
                            <a:srgbClr val="64748B"/>
                          </a:solidFill>
                          <a:latin typeface="Arial"/>
                        </a:rPr>
                        <a:t>Production Next.js 14 web app, live on Vercel at getrehearse.vercel.app, zero runtime errors.</a:t>
                      </a:r>
                    </a:p>
                  </a:txBody>
                  <a:tcPr>
                    <a:solidFill>
                      <a:srgbClr val="FFFFFF"/>
                    </a:solidFill>
                  </a:tcPr>
                </a:tc>
                <a:tc>
                  <a:txBody>
                    <a:bodyPr/>
                    <a:lstStyle/>
                    <a:p>
                      <a:r>
                        <a:rPr sz="950" b="1">
                          <a:solidFill>
                            <a:srgbClr val="10B981"/>
                          </a:solidFill>
                          <a:latin typeface="Arial"/>
                        </a:rPr>
                        <a:t>Live &amp; Operational</a:t>
                      </a:r>
                    </a:p>
                  </a:txBody>
                  <a:tcPr>
                    <a:solidFill>
                      <a:srgbClr val="FFFFFF"/>
                    </a:solidFill>
                  </a:tcPr>
                </a:tc>
              </a:tr>
              <a:tr h="548640">
                <a:tc>
                  <a:txBody>
                    <a:bodyPr/>
                    <a:lstStyle/>
                    <a:p>
                      <a:r>
                        <a:rPr sz="950" b="1">
                          <a:solidFill>
                            <a:srgbClr val="0F172A"/>
                          </a:solidFill>
                          <a:latin typeface="Arial"/>
                        </a:rPr>
                        <a:t>Testing, reliability and responsible AI</a:t>
                      </a:r>
                    </a:p>
                  </a:txBody>
                  <a:tcPr>
                    <a:solidFill>
                      <a:srgbClr val="F1F5F9"/>
                    </a:solidFill>
                  </a:tcPr>
                </a:tc>
                <a:tc>
                  <a:txBody>
                    <a:bodyPr/>
                    <a:lstStyle/>
                    <a:p>
                      <a:r>
                        <a:rPr sz="950" b="1">
                          <a:solidFill>
                            <a:srgbClr val="D05236"/>
                          </a:solidFill>
                          <a:latin typeface="Arial"/>
                        </a:rPr>
                        <a:t>15%</a:t>
                      </a:r>
                    </a:p>
                  </a:txBody>
                  <a:tcPr>
                    <a:solidFill>
                      <a:srgbClr val="F1F5F9"/>
                    </a:solidFill>
                  </a:tcPr>
                </a:tc>
                <a:tc>
                  <a:txBody>
                    <a:bodyPr/>
                    <a:lstStyle/>
                    <a:p>
                      <a:r>
                        <a:rPr sz="950">
                          <a:solidFill>
                            <a:srgbClr val="64748B"/>
                          </a:solidFill>
                          <a:latin typeface="Arial"/>
                        </a:rPr>
                        <a:t>25 unit tests passing, offline Web Speech fallback, local video privacy, serverless secret protection.</a:t>
                      </a:r>
                    </a:p>
                  </a:txBody>
                  <a:tcPr>
                    <a:solidFill>
                      <a:srgbClr val="F1F5F9"/>
                    </a:solidFill>
                  </a:tcPr>
                </a:tc>
                <a:tc>
                  <a:txBody>
                    <a:bodyPr/>
                    <a:lstStyle/>
                    <a:p>
                      <a:r>
                        <a:rPr sz="950" b="1">
                          <a:solidFill>
                            <a:srgbClr val="10B981"/>
                          </a:solidFill>
                          <a:latin typeface="Arial"/>
                        </a:rPr>
                        <a:t>100% Passing</a:t>
                      </a:r>
                    </a:p>
                  </a:txBody>
                  <a:tcPr>
                    <a:solidFill>
                      <a:srgbClr val="F1F5F9"/>
                    </a:solidFill>
                  </a:tcPr>
                </a:tc>
              </a:tr>
              <a:tr h="548640">
                <a:tc>
                  <a:txBody>
                    <a:bodyPr/>
                    <a:lstStyle/>
                    <a:p>
                      <a:r>
                        <a:rPr sz="950" b="1">
                          <a:solidFill>
                            <a:srgbClr val="0F172A"/>
                          </a:solidFill>
                          <a:latin typeface="Arial"/>
                        </a:rPr>
                        <a:t>Problem definition and use-case relevance</a:t>
                      </a:r>
                    </a:p>
                  </a:txBody>
                  <a:tcPr>
                    <a:solidFill>
                      <a:srgbClr val="FFFFFF"/>
                    </a:solidFill>
                  </a:tcPr>
                </a:tc>
                <a:tc>
                  <a:txBody>
                    <a:bodyPr/>
                    <a:lstStyle/>
                    <a:p>
                      <a:r>
                        <a:rPr sz="950" b="1">
                          <a:solidFill>
                            <a:srgbClr val="D05236"/>
                          </a:solidFill>
                          <a:latin typeface="Arial"/>
                        </a:rPr>
                        <a:t>10%</a:t>
                      </a:r>
                    </a:p>
                  </a:txBody>
                  <a:tcPr>
                    <a:solidFill>
                      <a:srgbClr val="FFFFFF"/>
                    </a:solidFill>
                  </a:tcPr>
                </a:tc>
                <a:tc>
                  <a:txBody>
                    <a:bodyPr/>
                    <a:lstStyle/>
                    <a:p>
                      <a:r>
                        <a:rPr sz="950">
                          <a:solidFill>
                            <a:srgbClr val="64748B"/>
                          </a:solidFill>
                          <a:latin typeface="Arial"/>
                        </a:rPr>
                        <a:t>Solves student interview freeze by enabling live verbal defense of architectural trade-offs.</a:t>
                      </a:r>
                    </a:p>
                  </a:txBody>
                  <a:tcPr>
                    <a:solidFill>
                      <a:srgbClr val="FFFFFF"/>
                    </a:solidFill>
                  </a:tcPr>
                </a:tc>
                <a:tc>
                  <a:txBody>
                    <a:bodyPr/>
                    <a:lstStyle/>
                    <a:p>
                      <a:r>
                        <a:rPr sz="950" b="1">
                          <a:solidFill>
                            <a:srgbClr val="10B981"/>
                          </a:solidFill>
                          <a:latin typeface="Arial"/>
                        </a:rPr>
                        <a:t>Demonstrated</a:t>
                      </a:r>
                    </a:p>
                  </a:txBody>
                  <a:tcPr>
                    <a:solidFill>
                      <a:srgbClr val="FFFFFF"/>
                    </a:solidFill>
                  </a:tcPr>
                </a:tc>
              </a:tr>
              <a:tr h="548640">
                <a:tc>
                  <a:txBody>
                    <a:bodyPr/>
                    <a:lstStyle/>
                    <a:p>
                      <a:r>
                        <a:rPr sz="950" b="1">
                          <a:solidFill>
                            <a:srgbClr val="0F172A"/>
                          </a:solidFill>
                          <a:latin typeface="Arial"/>
                        </a:rPr>
                        <a:t>Documentation and code quality</a:t>
                      </a:r>
                    </a:p>
                  </a:txBody>
                  <a:tcPr>
                    <a:solidFill>
                      <a:srgbClr val="F1F5F9"/>
                    </a:solidFill>
                  </a:tcPr>
                </a:tc>
                <a:tc>
                  <a:txBody>
                    <a:bodyPr/>
                    <a:lstStyle/>
                    <a:p>
                      <a:r>
                        <a:rPr sz="950" b="1">
                          <a:solidFill>
                            <a:srgbClr val="D05236"/>
                          </a:solidFill>
                          <a:latin typeface="Arial"/>
                        </a:rPr>
                        <a:t>10%</a:t>
                      </a:r>
                    </a:p>
                  </a:txBody>
                  <a:tcPr>
                    <a:solidFill>
                      <a:srgbClr val="F1F5F9"/>
                    </a:solidFill>
                  </a:tcPr>
                </a:tc>
                <a:tc>
                  <a:txBody>
                    <a:bodyPr/>
                    <a:lstStyle/>
                    <a:p>
                      <a:r>
                        <a:rPr sz="950">
                          <a:solidFill>
                            <a:srgbClr val="64748B"/>
                          </a:solidFill>
                          <a:latin typeface="Arial"/>
                        </a:rPr>
                        <a:t>Clean modular code, strict naming conventions, inline docstrings, complete specifications.</a:t>
                      </a:r>
                    </a:p>
                  </a:txBody>
                  <a:tcPr>
                    <a:solidFill>
                      <a:srgbClr val="F1F5F9"/>
                    </a:solidFill>
                  </a:tcPr>
                </a:tc>
                <a:tc>
                  <a:txBody>
                    <a:bodyPr/>
                    <a:lstStyle/>
                    <a:p>
                      <a:r>
                        <a:rPr sz="950" b="1">
                          <a:solidFill>
                            <a:srgbClr val="10B981"/>
                          </a:solidFill>
                          <a:latin typeface="Arial"/>
                        </a:rPr>
                        <a:t>Complete &amp; Typed</a:t>
                      </a:r>
                    </a:p>
                  </a:txBody>
                  <a:tcPr>
                    <a:solidFill>
                      <a:srgbClr val="F1F5F9"/>
                    </a:solidFill>
                  </a:tcPr>
                </a:tc>
              </a:tr>
              <a:tr h="548640">
                <a:tc>
                  <a:txBody>
                    <a:bodyPr/>
                    <a:lstStyle/>
                    <a:p>
                      <a:r>
                        <a:rPr sz="950" b="1">
                          <a:solidFill>
                            <a:srgbClr val="0F172A"/>
                          </a:solidFill>
                          <a:latin typeface="Arial"/>
                        </a:rPr>
                        <a:t>Demonstration and presentation</a:t>
                      </a:r>
                    </a:p>
                  </a:txBody>
                  <a:tcPr>
                    <a:solidFill>
                      <a:srgbClr val="FFFFFF"/>
                    </a:solidFill>
                  </a:tcPr>
                </a:tc>
                <a:tc>
                  <a:txBody>
                    <a:bodyPr/>
                    <a:lstStyle/>
                    <a:p>
                      <a:r>
                        <a:rPr sz="950" b="1">
                          <a:solidFill>
                            <a:srgbClr val="D05236"/>
                          </a:solidFill>
                          <a:latin typeface="Arial"/>
                        </a:rPr>
                        <a:t>10%</a:t>
                      </a:r>
                    </a:p>
                  </a:txBody>
                  <a:tcPr>
                    <a:solidFill>
                      <a:srgbClr val="FFFFFF"/>
                    </a:solidFill>
                  </a:tcPr>
                </a:tc>
                <a:tc>
                  <a:txBody>
                    <a:bodyPr/>
                    <a:lstStyle/>
                    <a:p>
                      <a:r>
                        <a:rPr sz="950">
                          <a:solidFill>
                            <a:srgbClr val="64748B"/>
                          </a:solidFill>
                          <a:latin typeface="Arial"/>
                        </a:rPr>
                        <a:t>Calibrated 5-minute timed presentation script matching Slide 3 time brackets to the second.</a:t>
                      </a:r>
                    </a:p>
                  </a:txBody>
                  <a:tcPr>
                    <a:solidFill>
                      <a:srgbClr val="FFFFFF"/>
                    </a:solidFill>
                  </a:tcPr>
                </a:tc>
                <a:tc>
                  <a:txBody>
                    <a:bodyPr/>
                    <a:lstStyle/>
                    <a:p>
                      <a:r>
                        <a:rPr sz="950" b="1">
                          <a:solidFill>
                            <a:srgbClr val="10B981"/>
                          </a:solidFill>
                          <a:latin typeface="Arial"/>
                        </a:rPr>
                        <a:t>Ready for Class</a:t>
                      </a:r>
                    </a:p>
                  </a:txBody>
                  <a:tcPr>
                    <a:solidFill>
                      <a:srgbClr val="FFFFFF"/>
                    </a:solidFill>
                  </a:tcPr>
                </a:tc>
              </a:tr>
              <a:tr h="548640">
                <a:tc>
                  <a:txBody>
                    <a:bodyPr/>
                    <a:lstStyle/>
                    <a:p>
                      <a:r>
                        <a:rPr sz="950" b="1">
                          <a:solidFill>
                            <a:srgbClr val="0F172A"/>
                          </a:solidFill>
                          <a:latin typeface="Arial"/>
                        </a:rPr>
                        <a:t>Practical impact and future scope</a:t>
                      </a:r>
                    </a:p>
                  </a:txBody>
                  <a:tcPr>
                    <a:solidFill>
                      <a:srgbClr val="F1F5F9"/>
                    </a:solidFill>
                  </a:tcPr>
                </a:tc>
                <a:tc>
                  <a:txBody>
                    <a:bodyPr/>
                    <a:lstStyle/>
                    <a:p>
                      <a:r>
                        <a:rPr sz="950" b="1">
                          <a:solidFill>
                            <a:srgbClr val="D05236"/>
                          </a:solidFill>
                          <a:latin typeface="Arial"/>
                        </a:rPr>
                        <a:t>5%</a:t>
                      </a:r>
                    </a:p>
                  </a:txBody>
                  <a:tcPr>
                    <a:solidFill>
                      <a:srgbClr val="F1F5F9"/>
                    </a:solidFill>
                  </a:tcPr>
                </a:tc>
                <a:tc>
                  <a:txBody>
                    <a:bodyPr/>
                    <a:lstStyle/>
                    <a:p>
                      <a:r>
                        <a:rPr sz="950">
                          <a:solidFill>
                            <a:srgbClr val="64748B"/>
                          </a:solidFill>
                          <a:latin typeface="Arial"/>
                        </a:rPr>
                        <a:t>Deliberate practice loop boosts placement success; clear regional language and PDF roadmap.</a:t>
                      </a:r>
                    </a:p>
                  </a:txBody>
                  <a:tcPr>
                    <a:solidFill>
                      <a:srgbClr val="F1F5F9"/>
                    </a:solidFill>
                  </a:tcPr>
                </a:tc>
                <a:tc>
                  <a:txBody>
                    <a:bodyPr/>
                    <a:lstStyle/>
                    <a:p>
                      <a:r>
                        <a:rPr sz="950" b="1">
                          <a:solidFill>
                            <a:srgbClr val="10B981"/>
                          </a:solidFill>
                          <a:latin typeface="Arial"/>
                        </a:rPr>
                        <a:t>Documented</a:t>
                      </a:r>
                    </a:p>
                  </a:txBody>
                  <a:tcPr>
                    <a:solidFill>
                      <a:srgbClr val="F1F5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r>
              <a:rPr sz="1000" b="1">
                <a:solidFill>
                  <a:srgbClr val="D05236"/>
                </a:solidFill>
                <a:latin typeface="Arial"/>
              </a:rPr>
              <a:t>IMPACT, LIMITATIONS &amp; ROADMAP (5% WEIGHT)</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r>
              <a:rPr sz="2200" b="1">
                <a:solidFill>
                  <a:srgbClr val="0F172A"/>
                </a:solidFill>
                <a:latin typeface="Arial"/>
              </a:rPr>
              <a:t>Measurable Placement Value &amp; Scalability</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r>
              <a:rPr sz="1200">
                <a:solidFill>
                  <a:srgbClr val="64748B"/>
                </a:solidFill>
                <a:latin typeface="Arial"/>
              </a:rPr>
              <a:t>Demonstrating real-world educational impact and clear technological evolution.</a:t>
            </a:r>
          </a:p>
        </p:txBody>
      </p:sp>
      <p:sp>
        <p:nvSpPr>
          <p:cNvPr id="6" name="Rounded Rectangle 5"/>
          <p:cNvSpPr/>
          <p:nvPr/>
        </p:nvSpPr>
        <p:spPr>
          <a:xfrm>
            <a:off x="7315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10B981"/>
                </a:solidFill>
                <a:latin typeface="Arial"/>
              </a:rPr>
              <a:t>Practical Educational Impact</a:t>
            </a:r>
          </a:p>
          <a:p>
            <a:pPr>
              <a:lnSpc>
                <a:spcPct val="125000"/>
              </a:lnSpc>
              <a:spcBef>
                <a:spcPts val="1200"/>
              </a:spcBef>
            </a:pPr>
            <a:r>
              <a:rPr sz="1100">
                <a:solidFill>
                  <a:srgbClr val="64748B"/>
                </a:solidFill>
                <a:latin typeface="Arial"/>
              </a:rPr>
              <a:t>• Deliberate Practice: Converts passive reading into active, high-pressure verbal muscle memory.
• Higher Placement Conversion: Engineering graduates enter campus placement rounds confident in articulating system design trade-offs.
• Objective Benchmarking: Diagnostic scoring provides calibrated feedback without requiring human mentors for every mock session.</a:t>
            </a:r>
          </a:p>
        </p:txBody>
      </p:sp>
      <p:sp>
        <p:nvSpPr>
          <p:cNvPr id="7" name="Rounded Rectangle 6"/>
          <p:cNvSpPr/>
          <p:nvPr/>
        </p:nvSpPr>
        <p:spPr>
          <a:xfrm>
            <a:off x="43891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D05236"/>
                </a:solidFill>
                <a:latin typeface="Arial"/>
              </a:rPr>
              <a:t>Current V1 Limitations</a:t>
            </a:r>
          </a:p>
          <a:p>
            <a:pPr>
              <a:lnSpc>
                <a:spcPct val="125000"/>
              </a:lnSpc>
              <a:spcBef>
                <a:spcPts val="1200"/>
              </a:spcBef>
            </a:pPr>
            <a:r>
              <a:rPr sz="1100">
                <a:solidFill>
                  <a:srgbClr val="64748B"/>
                </a:solidFill>
                <a:latin typeface="Arial"/>
              </a:rPr>
              <a:t>• Focused Exclusively on Conversation: Intentionally excludes non-core ATS or job-board features to maximize interview rehearsal depth.
• English-First Voice Models: Currently optimized for English neural accents (US, UK).
• Audio Bandwidth: Full 24kHz studio streaming requires stable client internet (mitigated by native Web Speech fallback).</a:t>
            </a:r>
          </a:p>
        </p:txBody>
      </p:sp>
      <p:sp>
        <p:nvSpPr>
          <p:cNvPr id="8" name="Rounded Rectangle 7"/>
          <p:cNvSpPr/>
          <p:nvPr/>
        </p:nvSpPr>
        <p:spPr>
          <a:xfrm>
            <a:off x="8046720" y="1828800"/>
            <a:ext cx="3383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r>
              <a:rPr sz="1500" b="1">
                <a:solidFill>
                  <a:srgbClr val="0284C7"/>
                </a:solidFill>
                <a:latin typeface="Arial"/>
              </a:rPr>
              <a:t>Future Roadmap &amp; Scaling</a:t>
            </a:r>
          </a:p>
          <a:p>
            <a:pPr>
              <a:lnSpc>
                <a:spcPct val="125000"/>
              </a:lnSpc>
              <a:spcBef>
                <a:spcPts val="1200"/>
              </a:spcBef>
            </a:pPr>
            <a:r>
              <a:rPr sz="1100">
                <a:solidFill>
                  <a:srgbClr val="64748B"/>
                </a:solidFill>
                <a:latin typeface="Arial"/>
              </a:rPr>
              <a:t>• Regional Language Support: Ingesting multilingual Azure neural voices for regional mock interviews in Hindi, Punjabi, and Tamil.
• Placement Cell Integration: Exportable PDF diagnostic coaching reports for university career mentors.
• Sub-Discipline Fine-Tuning: Custom prompt weights for emerging tracks (DevOps, Site Reliability, and AI/ML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9966960" cy="365760"/>
          </a:xfrm>
          <a:prstGeom prst="rect">
            <a:avLst/>
          </a:prstGeom>
          <a:noFill/>
        </p:spPr>
        <p:txBody>
          <a:bodyPr wrap="none">
            <a:spAutoFit/>
          </a:bodyPr>
          <a:lstStyle/>
          <a:p>
            <a:r>
              <a:rPr sz="1200" b="1">
                <a:solidFill>
                  <a:srgbClr val="D05236"/>
                </a:solidFill>
                <a:latin typeface="Arial"/>
              </a:rPr>
              <a:t>CONCLUSION &amp; VIVA DEFENSE</a:t>
            </a:r>
          </a:p>
        </p:txBody>
      </p:sp>
      <p:sp>
        <p:nvSpPr>
          <p:cNvPr id="4" name="TextBox 3"/>
          <p:cNvSpPr txBox="1"/>
          <p:nvPr/>
        </p:nvSpPr>
        <p:spPr>
          <a:xfrm>
            <a:off x="1097280" y="1737360"/>
            <a:ext cx="9966960" cy="914400"/>
          </a:xfrm>
          <a:prstGeom prst="rect">
            <a:avLst/>
          </a:prstGeom>
          <a:noFill/>
        </p:spPr>
        <p:txBody>
          <a:bodyPr wrap="none">
            <a:spAutoFit/>
          </a:bodyPr>
          <a:lstStyle/>
          <a:p>
            <a:r>
              <a:rPr sz="4000" b="1">
                <a:solidFill>
                  <a:srgbClr val="FFFFFF"/>
                </a:solidFill>
                <a:latin typeface="Arial"/>
              </a:rPr>
              <a:t>Thank You. We Welcome Your Questions.</a:t>
            </a:r>
          </a:p>
        </p:txBody>
      </p:sp>
      <p:sp>
        <p:nvSpPr>
          <p:cNvPr id="5" name="Rounded Rectangle 4"/>
          <p:cNvSpPr/>
          <p:nvPr/>
        </p:nvSpPr>
        <p:spPr>
          <a:xfrm>
            <a:off x="1097280" y="3108960"/>
            <a:ext cx="3108960" cy="2560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400" b="1">
                <a:solidFill>
                  <a:srgbClr val="D05236"/>
                </a:solidFill>
                <a:latin typeface="Arial"/>
              </a:rPr>
              <a:t>Production Web App</a:t>
            </a:r>
          </a:p>
          <a:p>
            <a:pPr>
              <a:lnSpc>
                <a:spcPct val="125000"/>
              </a:lnSpc>
              <a:spcBef>
                <a:spcPts val="800"/>
              </a:spcBef>
            </a:pPr>
            <a:r>
              <a:rPr sz="1100">
                <a:solidFill>
                  <a:srgbClr val="E2E8F0"/>
                </a:solidFill>
                <a:latin typeface="Arial"/>
              </a:rPr>
              <a:t>getrehearse.vercel.app
• Live on global CDN
• Zero-config onboarding
• Mobile &amp; desktop responsive</a:t>
            </a:r>
          </a:p>
        </p:txBody>
      </p:sp>
      <p:sp>
        <p:nvSpPr>
          <p:cNvPr id="6" name="Rounded Rectangle 5"/>
          <p:cNvSpPr/>
          <p:nvPr/>
        </p:nvSpPr>
        <p:spPr>
          <a:xfrm>
            <a:off x="4572000" y="3108960"/>
            <a:ext cx="3108960" cy="2560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400" b="1">
                <a:solidFill>
                  <a:srgbClr val="D05236"/>
                </a:solidFill>
                <a:latin typeface="Arial"/>
              </a:rPr>
              <a:t>Key Architecture Highlights</a:t>
            </a:r>
          </a:p>
          <a:p>
            <a:pPr>
              <a:lnSpc>
                <a:spcPct val="125000"/>
              </a:lnSpc>
              <a:spcBef>
                <a:spcPts val="800"/>
              </a:spcBef>
            </a:pPr>
            <a:r>
              <a:rPr sz="1100">
                <a:solidFill>
                  <a:srgbClr val="E2E8F0"/>
                </a:solidFill>
                <a:latin typeface="Arial"/>
              </a:rPr>
              <a:t>• Azure Speech 24kHz SSML
• Foundry GPT-4o JSON Schema
• FSM Duration Clock Pacing
• Dual-layer Offline Fallback</a:t>
            </a:r>
          </a:p>
        </p:txBody>
      </p:sp>
      <p:sp>
        <p:nvSpPr>
          <p:cNvPr id="7" name="Rounded Rectangle 6"/>
          <p:cNvSpPr/>
          <p:nvPr/>
        </p:nvSpPr>
        <p:spPr>
          <a:xfrm>
            <a:off x="8046720" y="3108960"/>
            <a:ext cx="3108960" cy="2560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400" b="1">
                <a:solidFill>
                  <a:srgbClr val="D05236"/>
                </a:solidFill>
                <a:latin typeface="Arial"/>
              </a:rPr>
              <a:t>Viva Defense Readiness</a:t>
            </a:r>
          </a:p>
          <a:p>
            <a:pPr>
              <a:lnSpc>
                <a:spcPct val="125000"/>
              </a:lnSpc>
              <a:spcBef>
                <a:spcPts val="800"/>
              </a:spcBef>
            </a:pPr>
            <a:r>
              <a:rPr sz="1100">
                <a:solidFill>
                  <a:srgbClr val="E2E8F0"/>
                </a:solidFill>
                <a:latin typeface="Arial"/>
              </a:rPr>
              <a:t>• 100% code explainability
• Privacy &amp; security verified
• 25 automated tests passing
• 0 TypeScript compilation errors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